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1 (0:00–1:30, bloque 1)
Hola, somos el Grupo 5 de Programación Concurrente: [nombres]. Nuestro proyecto estima el costo total de una hospitalización con una regresión lineal multivariable, como apoyo a la planificación presupuestaria de los hospitales, dentro del ODS 3, Salud y bienestar.
(Cada integrante se presenta por su nombre.)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1 (bloque 1, 0:00–1:30)
Usamos el dataset SPARCS 2022 de Nueva York, con 2 103 433 altas hospitalarias. Después de la limpieza conservamos 2 103 432. Codificamos las variables categóricas con one-hot y obtuvimos 49 características. Separamos 80/20 de forma reproducible.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1 (bloque 1, hasta 1:30)
Estandarizamos solo con el conjunto de entrenamiento para no filtrar información del de prueba.
El modelo se entrena con Batch Gradient Descent: 100 épocas con learning rate 0.01. Como cada época recorre 1.68 millones de registros, el cálculo del gradiente es el cuello de botella, y por eso lo paralelizamos.
Transición: "Ahora [Integrante 2] explica cómo lo paralelizamos y cómo lo verificamos."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2 (bloque 2, 1:30–2:30)
Usamos un Worker Pool. En cada época el conjunto se divide en workers × 4 jobs que se envían por un canal. Cada worker calcula un gradiente parcial y lo devuelve por otro canal. Los workers solo leen los pesos y nunca los modifican.
El coordinador espera con wg.Wait(), suma los gradientes ordenados por JobID y recién ahí actualiza los pesos, en un solo flujo. Por eso no necesitamos Mutex: no hay escritura compartida. Además, el orden fijo de la suma hace que el resultado sea idéntico al secuencial.
(Pantalla en el video: diagrama del README y concurrent.go líneas 113–118, 169 y 173.)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2 (bloque 2, 2:30–3:30)
Para demostrar que la sincronización es correcta modelamos el Worker Pool en Promela y lo verificamos con Spin. Verificamos tres propiedades:
- mutex: nunca hay más de un proceso actualizando los pesos.
- safe_update: solo se actualiza cuando llegaron todos los resultados.
- termination: el entrenamiento siempre termina.
La corrida de seguridad no reporta invalid end states, es decir, no hay deadlocks. Todo da errors: 0 con 2, 3 y 4 workers.
(Pantalla en el video: promela/regression_workers.pml, proctype Worker línea 93 y fórmulas LTL líneas 307–309; results/promela/w3_j4_ltl_mutex.txt con errors: 0.)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2 (bloque 2, hasta 3:30)
Para comprobar que la verificación no es trivial, creamos mutantes con errores a propósito. En uno, los workers escriben los pesos, y Spin encuentra la violación de exclusión mutua. En otro falta un mensaje de STOP, y Spin detecta el deadlock. Es decir, Spin sí detecta los errores cuando existen.
(Pantalla en el video: tabla de mutantes de docs/tp/01-verificacion-formal.md.)
Transición: "Con la corrección demostrada, [Integrante 3] muestra el rendimiento."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3 (bloque 3, 3:30–4:30)
En un Ryzen 5 9600X, con 6 núcleos físicos y 12 lógicos, la versión secuencial tarda 1869 ms. Con 16 workers baja a 383 ms, un speedup de 4.88x. Las dos versiones producen exactamente el mismo modelo: diferencia máxima 0 y R² de 0.4679 en ambas.
(Pantalla en el video: salida acelerada de go run . -mode=quick y tabla de docs/pc2/04-analisis-speedup-escalabilidad.md.)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3 (bloque 3, 3:30–4:30)
El speedup se estanca cerca de 4.9x. La métrica de Karp–Flatt crece de 0.018 a 0.180, lo que indica que el límite no está en una parte secuencial del código sino en el hardware: los hilos SMT comparten las unidades de cálculo y el ancho de banda de memoria.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3 (bloque 3, hasta 4:30)
Por eso el punto de equilibrio está en 8 workers por eficiencia y en 12 como elección práctica.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3 (bloque 3, 4:30–5:15)
Para el análisis con IA escribimos un prompt estructurado con rol, alcance, criterios y formato de salida, y lo ejecutamos con Claude sobre el código de GitHub. Encontró 19 GAPs: ninguno de severidad alta, 4 de media y 15 de baja.
(Pantalla en el video: docs/tp/02-prompt-analisis-ia.md y tabla resumen de docs/tp/03-informe-gaps-ia.md.)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3 (bloque 3, hasta 5:15)
Corregimos los importantes con tests: timeout de inactividad en la descarga, código de salida 1 ante errores, escritura atómica del CSV, validación de columnas y errores de cierre de archivos. Verificamos cada hallazgo contra el código antes de corregirlo, porque la IA también puede equivocarse.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4 (5:15–6:00, unos 15 s cada uno)
Integrante 1, limitaciones: "Medimos en una sola máquina. Spin solo puede verificar configuraciones pequeñas, hasta 4 workers, por la explosión de estados. Y el R² de 0.47 indica que una regresión lineal explica menos de la mitad de la variación del costo."
Integrante 2, escalabilidad: "Más workers no es mejor. Pasar de 8 a 16 apenas mejora el tiempo y aumenta la memoria. En una máquina con más núcleos físicos el techo debería subir."
Integrante 3, mejoras: "Proponemos mini-batch para escalar a datasets más grandes, reutilizar el pool de workers entre épocas e integración continua con go test -race y Spin en cada pull request. Gracias."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NOTA: este bloque no está en el guion de 6 minutos. Si el tiempo no alcanza, omitir esta diapositiva o mostrarla un instante mientras se dice el cierre.
Trabajamos con Git Flow: ramas feature y docs que se integran a develop y luego a main mediante pull requests, con commits convencionales. La evidencia está en el historial de commits y en el git shortlog del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(5:45–6:00)
Gracias. El código, los modelos de Promela, los resultados y los informes están en el repositorio público: https://github.com/YuhiTTo/Grupo5-ProgramacionConcurrente
(El guion termina con el "Gracias" del Integrante 3; esta diapositiva puede mostrarse durante esa frase.)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CC65 · Grupo 5 · Regresión lineal concurrente en Go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CC65 Programación Concurrente · UPC 2026-20 · Grupo 5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Regresión lineal concurrente para estimar el costo hospitalario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Worker Pool en Go, verificado formalmente con Spin · ODS 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661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Lucero Salome Manchay Paredes · U202216120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José Antonio Mayhua Hinostroza · U202218044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Jhamil Brijan Peña Cardenas · U201714492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Problema y dataset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Estimar el costo total de una hospitalización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Regresión lineal multivariable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Apoyo a la planificación presupuestaria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ODS 3: Salud y bienestar</a:t>
            </a:r>
            <a:endParaRPr lang="en-US" sz="2000" dirty="0"/>
          </a:p>
        </p:txBody>
      </p:sp>
      <p:sp>
        <p:nvSpPr>
          <p:cNvPr id="5" name="stat0"/>
          <p:cNvSpPr/>
          <p:nvPr/>
        </p:nvSpPr>
        <p:spPr>
          <a:xfrm>
            <a:off x="4572000" y="1188720"/>
            <a:ext cx="2011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663440" y="1417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2,103,433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registros leídos</a:t>
            </a:r>
            <a:endParaRPr lang="en-US" sz="1800" dirty="0"/>
          </a:p>
        </p:txBody>
      </p:sp>
      <p:sp>
        <p:nvSpPr>
          <p:cNvPr id="8" name="stat1"/>
          <p:cNvSpPr/>
          <p:nvPr/>
        </p:nvSpPr>
        <p:spPr>
          <a:xfrm>
            <a:off x="6675120" y="1188720"/>
            <a:ext cx="2011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66560" y="1417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2,103,432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registros conservados</a:t>
            </a:r>
            <a:endParaRPr lang="en-US" sz="1800" dirty="0"/>
          </a:p>
        </p:txBody>
      </p:sp>
      <p:sp>
        <p:nvSpPr>
          <p:cNvPr id="11" name="stat2"/>
          <p:cNvSpPr/>
          <p:nvPr/>
        </p:nvSpPr>
        <p:spPr>
          <a:xfrm>
            <a:off x="4572000" y="2926080"/>
            <a:ext cx="2011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63440" y="3154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3749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características (one-hot)</a:t>
            </a:r>
            <a:endParaRPr lang="en-US" sz="1800" dirty="0"/>
          </a:p>
        </p:txBody>
      </p:sp>
      <p:sp>
        <p:nvSpPr>
          <p:cNvPr id="14" name="stat3"/>
          <p:cNvSpPr/>
          <p:nvPr/>
        </p:nvSpPr>
        <p:spPr>
          <a:xfrm>
            <a:off x="6675120" y="2926080"/>
            <a:ext cx="2011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66560" y="3154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1,682,537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6766560" y="3749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en entrenamiento (80/20)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Pipeline de datos y modelo</a:t>
            </a:r>
            <a:endParaRPr lang="en-US" sz="3200" dirty="0"/>
          </a:p>
        </p:txBody>
      </p:sp>
      <p:sp>
        <p:nvSpPr>
          <p:cNvPr id="4" name="row0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num0"/>
          <p:cNvSpPr/>
          <p:nvPr/>
        </p:nvSpPr>
        <p:spPr>
          <a:xfrm>
            <a:off x="594360" y="1298448"/>
            <a:ext cx="512064" cy="51206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298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188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Limpieza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023360" y="11887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2,103,433 leídos → 2,103,432 conservados</a:t>
            </a:r>
            <a:endParaRPr lang="en-US" sz="1800" dirty="0"/>
          </a:p>
        </p:txBody>
      </p:sp>
      <p:sp>
        <p:nvSpPr>
          <p:cNvPr id="9" name="row1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num1"/>
          <p:cNvSpPr/>
          <p:nvPr/>
        </p:nvSpPr>
        <p:spPr>
          <a:xfrm>
            <a:off x="594360" y="2167128"/>
            <a:ext cx="512064" cy="51206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2167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20574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Preprocesamiento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023360" y="20574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One-hot (49 características), split 80/20, estandarización solo con train</a:t>
            </a:r>
            <a:endParaRPr lang="en-US" sz="1800" dirty="0"/>
          </a:p>
        </p:txBody>
      </p:sp>
      <p:sp>
        <p:nvSpPr>
          <p:cNvPr id="14" name="row2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num2"/>
          <p:cNvSpPr/>
          <p:nvPr/>
        </p:nvSpPr>
        <p:spPr>
          <a:xfrm>
            <a:off x="594360" y="303580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2926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Entrenamiento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4023360" y="29260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Batch Gradient Descent: 100 épocas, lr 0.01. El gradiente es el cuello de botella</a:t>
            </a:r>
            <a:endParaRPr lang="en-US" sz="1800" dirty="0"/>
          </a:p>
        </p:txBody>
      </p:sp>
      <p:sp>
        <p:nvSpPr>
          <p:cNvPr id="19" name="row3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num3"/>
          <p:cNvSpPr/>
          <p:nvPr/>
        </p:nvSpPr>
        <p:spPr>
          <a:xfrm>
            <a:off x="594360" y="3904488"/>
            <a:ext cx="512064" cy="51206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4360" y="3904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3794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4023360" y="37947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R² = 0.4679 sobre el conjunto de prueba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Diseño concurrente: Worker Pool</a:t>
            </a:r>
            <a:endParaRPr lang="en-US" sz="3200" dirty="0"/>
          </a:p>
        </p:txBody>
      </p:sp>
      <p:sp>
        <p:nvSpPr>
          <p:cNvPr id="4" name="node0"/>
          <p:cNvSpPr/>
          <p:nvPr/>
        </p:nvSpPr>
        <p:spPr>
          <a:xfrm>
            <a:off x="457200" y="1188720"/>
            <a:ext cx="1234440" cy="14630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188720"/>
            <a:ext cx="1143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Coordinador</a:t>
            </a:r>
            <a:endParaRPr lang="en-US" sz="1600" dirty="0"/>
          </a:p>
        </p:txBody>
      </p:sp>
      <p:sp>
        <p:nvSpPr>
          <p:cNvPr id="6" name="arrow0"/>
          <p:cNvSpPr/>
          <p:nvPr/>
        </p:nvSpPr>
        <p:spPr>
          <a:xfrm>
            <a:off x="1719072" y="1920240"/>
            <a:ext cx="128016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7" name="chan1"/>
          <p:cNvSpPr/>
          <p:nvPr/>
        </p:nvSpPr>
        <p:spPr>
          <a:xfrm>
            <a:off x="1874520" y="1508760"/>
            <a:ext cx="914400" cy="822960"/>
          </a:xfrm>
          <a:prstGeom prst="roundRect">
            <a:avLst>
              <a:gd name="adj" fmla="val 44444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874520" y="15087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canal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jobs</a:t>
            </a:r>
            <a:endParaRPr lang="en-US" sz="1400" dirty="0"/>
          </a:p>
        </p:txBody>
      </p:sp>
      <p:sp>
        <p:nvSpPr>
          <p:cNvPr id="9" name="arrow1"/>
          <p:cNvSpPr/>
          <p:nvPr/>
        </p:nvSpPr>
        <p:spPr>
          <a:xfrm>
            <a:off x="2816352" y="1920240"/>
            <a:ext cx="128016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0" name="workers"/>
          <p:cNvSpPr/>
          <p:nvPr/>
        </p:nvSpPr>
        <p:spPr>
          <a:xfrm>
            <a:off x="2971800" y="1051560"/>
            <a:ext cx="1371600" cy="173736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971800" y="1143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Workers</a:t>
            </a:r>
            <a:endParaRPr lang="en-US" sz="1600" dirty="0"/>
          </a:p>
        </p:txBody>
      </p:sp>
      <p:sp>
        <p:nvSpPr>
          <p:cNvPr id="12" name="w0"/>
          <p:cNvSpPr/>
          <p:nvPr/>
        </p:nvSpPr>
        <p:spPr>
          <a:xfrm>
            <a:off x="3154680" y="1554480"/>
            <a:ext cx="1005840" cy="310896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154680" y="15544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Worker 1</a:t>
            </a:r>
            <a:endParaRPr lang="en-US" sz="1400" dirty="0"/>
          </a:p>
        </p:txBody>
      </p:sp>
      <p:sp>
        <p:nvSpPr>
          <p:cNvPr id="14" name="w1"/>
          <p:cNvSpPr/>
          <p:nvPr/>
        </p:nvSpPr>
        <p:spPr>
          <a:xfrm>
            <a:off x="3154680" y="1938528"/>
            <a:ext cx="1005840" cy="310896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154680" y="193852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Worker 2</a:t>
            </a:r>
            <a:endParaRPr lang="en-US" sz="1400" dirty="0"/>
          </a:p>
        </p:txBody>
      </p:sp>
      <p:sp>
        <p:nvSpPr>
          <p:cNvPr id="16" name="w2"/>
          <p:cNvSpPr/>
          <p:nvPr/>
        </p:nvSpPr>
        <p:spPr>
          <a:xfrm>
            <a:off x="3154680" y="2322576"/>
            <a:ext cx="1005840" cy="310896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154680" y="232257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Worker N</a:t>
            </a:r>
            <a:endParaRPr lang="en-US" sz="1400" dirty="0"/>
          </a:p>
        </p:txBody>
      </p:sp>
      <p:sp>
        <p:nvSpPr>
          <p:cNvPr id="18" name="arrow2"/>
          <p:cNvSpPr/>
          <p:nvPr/>
        </p:nvSpPr>
        <p:spPr>
          <a:xfrm>
            <a:off x="4370832" y="1920240"/>
            <a:ext cx="128016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9" name="chan3"/>
          <p:cNvSpPr/>
          <p:nvPr/>
        </p:nvSpPr>
        <p:spPr>
          <a:xfrm>
            <a:off x="4526280" y="1508760"/>
            <a:ext cx="914400" cy="822960"/>
          </a:xfrm>
          <a:prstGeom prst="roundRect">
            <a:avLst>
              <a:gd name="adj" fmla="val 44444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26280" y="15087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canal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results</a:t>
            </a:r>
            <a:endParaRPr lang="en-US" sz="1400" dirty="0"/>
          </a:p>
        </p:txBody>
      </p:sp>
      <p:sp>
        <p:nvSpPr>
          <p:cNvPr id="21" name="arrow3"/>
          <p:cNvSpPr/>
          <p:nvPr/>
        </p:nvSpPr>
        <p:spPr>
          <a:xfrm>
            <a:off x="5468112" y="1920240"/>
            <a:ext cx="128016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2" name="node4"/>
          <p:cNvSpPr/>
          <p:nvPr/>
        </p:nvSpPr>
        <p:spPr>
          <a:xfrm>
            <a:off x="5623560" y="1188720"/>
            <a:ext cx="1463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669280" y="118872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Reducción por JobID</a:t>
            </a:r>
            <a:endParaRPr lang="en-US" sz="1600" dirty="0"/>
          </a:p>
        </p:txBody>
      </p:sp>
      <p:sp>
        <p:nvSpPr>
          <p:cNvPr id="24" name="arrow4"/>
          <p:cNvSpPr/>
          <p:nvPr/>
        </p:nvSpPr>
        <p:spPr>
          <a:xfrm>
            <a:off x="7114032" y="1920240"/>
            <a:ext cx="128016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5" name="node5"/>
          <p:cNvSpPr/>
          <p:nvPr/>
        </p:nvSpPr>
        <p:spPr>
          <a:xfrm>
            <a:off x="7269480" y="1188720"/>
            <a:ext cx="1417320" cy="146304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15200" y="1188720"/>
            <a:ext cx="1325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Actualización de pesos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3108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workers × 4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3566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jobs por época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3291840" y="3108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Mutex</a:t>
            </a:r>
            <a:endParaRPr lang="en-US" sz="2200" dirty="0"/>
          </a:p>
        </p:txBody>
      </p:sp>
      <p:sp>
        <p:nvSpPr>
          <p:cNvPr id="30" name="Text 27"/>
          <p:cNvSpPr txBox="1"/>
          <p:nvPr/>
        </p:nvSpPr>
        <p:spPr>
          <a:xfrm>
            <a:off x="3291840" y="3566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los workers solo leen los pesos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126480" y="3108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Suma por JobID</a:t>
            </a:r>
            <a:endParaRPr lang="en-US" sz="2200" dirty="0"/>
          </a:p>
        </p:txBody>
      </p:sp>
      <p:sp>
        <p:nvSpPr>
          <p:cNvPr id="32" name="Text 29"/>
          <p:cNvSpPr txBox="1"/>
          <p:nvPr/>
        </p:nvSpPr>
        <p:spPr>
          <a:xfrm>
            <a:off x="6126480" y="3566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modelo idéntico al secuencial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Verificación formal con Spin</a:t>
            </a:r>
            <a:endParaRPr lang="en-US" sz="3200" dirty="0"/>
          </a:p>
        </p:txBody>
      </p:sp>
      <p:sp>
        <p:nvSpPr>
          <p:cNvPr id="4" name="prop0"/>
          <p:cNvSpPr/>
          <p:nvPr/>
        </p:nvSpPr>
        <p:spPr>
          <a:xfrm>
            <a:off x="457200" y="1188720"/>
            <a:ext cx="484632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1887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mutex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2194560" y="1188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nunca más de un proceso actualiza los pesos</a:t>
            </a:r>
            <a:endParaRPr lang="en-US" sz="1800" dirty="0"/>
          </a:p>
        </p:txBody>
      </p:sp>
      <p:sp>
        <p:nvSpPr>
          <p:cNvPr id="7" name="prop1"/>
          <p:cNvSpPr/>
          <p:nvPr/>
        </p:nvSpPr>
        <p:spPr>
          <a:xfrm>
            <a:off x="457200" y="2148840"/>
            <a:ext cx="484632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21488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safe_update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2194560" y="2148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se actualiza solo con todos los resultados</a:t>
            </a:r>
            <a:endParaRPr lang="en-US" sz="1800" dirty="0"/>
          </a:p>
        </p:txBody>
      </p:sp>
      <p:sp>
        <p:nvSpPr>
          <p:cNvPr id="10" name="prop2"/>
          <p:cNvSpPr/>
          <p:nvPr/>
        </p:nvSpPr>
        <p:spPr>
          <a:xfrm>
            <a:off x="457200" y="3108960"/>
            <a:ext cx="484632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1089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termination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2194560" y="31089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el entrenamiento siempre termina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Deadlock: sin invalid end states</a:t>
            </a:r>
            <a:endParaRPr lang="en-US" sz="1800" dirty="0"/>
          </a:p>
        </p:txBody>
      </p:sp>
      <p:graphicFrame>
        <p:nvGraphicFramePr>
          <p:cNvPr id="6" name="tabla estad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188720"/>
          <a:ext cx="31089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188720"/>
                <a:gridCol w="9144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Workers / jobs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Estados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Errores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 / 4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12,358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 / 4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145,563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 / 4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1,080,202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5577840" y="3749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Todas las propiedades y configuraciones: errors: 0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Evidencia: Spin detecta los errores</a:t>
            </a:r>
            <a:endParaRPr lang="en-US" sz="3200" dirty="0"/>
          </a:p>
        </p:txBody>
      </p:sp>
      <p:pic>
        <p:nvPicPr>
          <p:cNvPr id="4" name="Salida de Spin: modelo correcto, errors 0" descr="Salida de Spin: modelo correcto, errors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2241179" cy="32461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343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Modelo correcto: errors: 0</a:t>
            </a:r>
            <a:endParaRPr lang="en-US" sz="1400" dirty="0"/>
          </a:p>
        </p:txBody>
      </p:sp>
      <p:pic>
        <p:nvPicPr>
          <p:cNvPr id="6" name="Salida de Spin: mutantes race y deadlock, errors 1" descr="Salida de Spin: mutantes race y deadlock, errors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051560"/>
            <a:ext cx="4832530" cy="324612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566160" y="4343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Mutantes: race (mutex violado) y deadlock (un STOP menos): errors: 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Resultados: speedup de 4.88x</a:t>
            </a:r>
            <a:endParaRPr lang="en-US" sz="3200" dirty="0"/>
          </a:p>
        </p:txBody>
      </p:sp>
      <p:pic>
        <p:nvPicPr>
          <p:cNvPr id="4" name="Gráfico oficial de speedup según workers" descr="Gráfico oficial de speedup según work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57300"/>
            <a:ext cx="4023360" cy="25146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931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Ryzen 5 9600X (6C/12T), media recortada de 7 corridas</a:t>
            </a:r>
            <a:endParaRPr lang="en-US" sz="1200" dirty="0"/>
          </a:p>
        </p:txBody>
      </p:sp>
      <p:graphicFrame>
        <p:nvGraphicFramePr>
          <p:cNvPr id="8" name="tabla resultad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402336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914400"/>
                <a:gridCol w="1051560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Config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Speedup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Efic.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Secuencial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1869.45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1.00x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 workers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510.57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3.66x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0.92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 workers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397.33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4.71x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0.59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 workers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387.66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4.82x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0.40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16 workers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382.95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4.88x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0.31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4663440" y="40690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Modelo idéntico: diferencia máxima 0, R² = 0.4679 en ambas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Escalabilidad: el límite es el hardware</a:t>
            </a:r>
            <a:endParaRPr lang="en-US" sz="3200" dirty="0"/>
          </a:p>
        </p:txBody>
      </p:sp>
      <p:pic>
        <p:nvPicPr>
          <p:cNvPr id="4" name="Gráfico de eficiencia según workers" descr="Gráfico de eficiencia según work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950208" cy="2468880"/>
          </a:xfrm>
          <a:prstGeom prst="rect">
            <a:avLst/>
          </a:prstGeom>
        </p:spPr>
      </p:pic>
      <p:pic>
        <p:nvPicPr>
          <p:cNvPr id="5" name="Gráfico de la métrica Karp-Flatt" descr="Gráfico de la métrica Karp-Flat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097280"/>
            <a:ext cx="3950208" cy="2468880"/>
          </a:xfrm>
          <a:prstGeom prst="rect">
            <a:avLst/>
          </a:prstGeom>
        </p:spPr>
      </p:pic>
      <p:sp>
        <p:nvSpPr>
          <p:cNvPr id="6" name="mensaje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640080" y="37490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Karp–Flatt: 0.0176 → 0.1799 (2 a 32 workers)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límite = hardware, no código secuencial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Punto de equilibrio: 8 vs 12 workers</a:t>
            </a:r>
            <a:endParaRPr lang="en-US" sz="3200" dirty="0"/>
          </a:p>
        </p:txBody>
      </p:sp>
      <p:pic>
        <p:nvPicPr>
          <p:cNvPr id="4" name="Gráfico de uso de memoria según workers" descr="Gráfico de uso de memoria según work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65860"/>
            <a:ext cx="4754880" cy="2971800"/>
          </a:xfrm>
          <a:prstGeom prst="rect">
            <a:avLst/>
          </a:prstGeom>
        </p:spPr>
      </p:pic>
      <p:sp>
        <p:nvSpPr>
          <p:cNvPr id="5" name="eq0"/>
          <p:cNvSpPr/>
          <p:nvPr/>
        </p:nvSpPr>
        <p:spPr>
          <a:xfrm>
            <a:off x="5486400" y="1188720"/>
            <a:ext cx="3200400" cy="1417320"/>
          </a:xfrm>
          <a:prstGeom prst="roundRect">
            <a:avLst>
              <a:gd name="adj" fmla="val 516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669280" y="12984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workers</a:t>
            </a:r>
            <a:endParaRPr lang="en-US" sz="2400" dirty="0"/>
          </a:p>
        </p:txBody>
      </p:sp>
      <p:sp>
        <p:nvSpPr>
          <p:cNvPr id="7" name="Text 3"/>
          <p:cNvSpPr txBox="1"/>
          <p:nvPr/>
        </p:nvSpPr>
        <p:spPr>
          <a:xfrm>
            <a:off x="5669280" y="1783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Equilibrio por eficiencia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96% del speedup máximo</a:t>
            </a:r>
            <a:endParaRPr lang="en-US" sz="1800" dirty="0"/>
          </a:p>
        </p:txBody>
      </p:sp>
      <p:sp>
        <p:nvSpPr>
          <p:cNvPr id="8" name="eq1"/>
          <p:cNvSpPr/>
          <p:nvPr/>
        </p:nvSpPr>
        <p:spPr>
          <a:xfrm>
            <a:off x="5486400" y="2788920"/>
            <a:ext cx="320040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0" y="28986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workers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5669280" y="33832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Elección práctica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4.82x, uno por hilo lógico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251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Más workers: más memoria, mejora marginal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Análisis del código con IA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Prompt estructurado, ejecutado con Claude (familia Claude 5, vía Claude Code)</a:t>
            </a:r>
            <a:endParaRPr lang="en-US" sz="1800" dirty="0"/>
          </a:p>
        </p:txBody>
      </p:sp>
      <p:sp>
        <p:nvSpPr>
          <p:cNvPr id="5" name="chip0"/>
          <p:cNvSpPr/>
          <p:nvPr/>
        </p:nvSpPr>
        <p:spPr>
          <a:xfrm>
            <a:off x="457200" y="2057400"/>
            <a:ext cx="201168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205740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</a:t>
            </a:r>
            <a:endParaRPr lang="en-US" sz="2200" dirty="0"/>
          </a:p>
        </p:txBody>
      </p:sp>
      <p:sp>
        <p:nvSpPr>
          <p:cNvPr id="7" name="chip1"/>
          <p:cNvSpPr/>
          <p:nvPr/>
        </p:nvSpPr>
        <p:spPr>
          <a:xfrm>
            <a:off x="2651760" y="2057400"/>
            <a:ext cx="201168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51760" y="205740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</a:t>
            </a:r>
            <a:endParaRPr lang="en-US" sz="2200" dirty="0"/>
          </a:p>
        </p:txBody>
      </p:sp>
      <p:sp>
        <p:nvSpPr>
          <p:cNvPr id="9" name="chip2"/>
          <p:cNvSpPr/>
          <p:nvPr/>
        </p:nvSpPr>
        <p:spPr>
          <a:xfrm>
            <a:off x="457200" y="3291840"/>
            <a:ext cx="201168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329184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</a:t>
            </a:r>
            <a:endParaRPr lang="en-US" sz="2200" dirty="0"/>
          </a:p>
        </p:txBody>
      </p:sp>
      <p:sp>
        <p:nvSpPr>
          <p:cNvPr id="11" name="chip3"/>
          <p:cNvSpPr/>
          <p:nvPr/>
        </p:nvSpPr>
        <p:spPr>
          <a:xfrm>
            <a:off x="2651760" y="3291840"/>
            <a:ext cx="201168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51760" y="329184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Formato</a:t>
            </a:r>
            <a:endParaRPr lang="en-US" sz="2200" dirty="0"/>
          </a:p>
        </p:txBody>
      </p:sp>
      <p:pic>
        <p:nvPicPr>
          <p:cNvPr id="13" name="Gráfico del estado de los 19 GAPs" descr="Gráfico del estado de los 19 GA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423035"/>
            <a:ext cx="3931920" cy="245745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54880" y="4206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19 GAPs: 0 altos, 4 medios, 15 bajos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GAPs corregidos y verificados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corregidos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55448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GAP-01 Timeout de inactividad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GAP-02 Código de salida 1 ante error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GAP-03 Escritura atómica del CSV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GAP-04 Tests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GAP-05 Invariante documentado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GAP-11 Validación de columnas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GAP-12 Errores de Close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206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2 parciales · 10 mejoras futuras pendientes</a:t>
            </a:r>
            <a:endParaRPr lang="en-US" sz="1800" dirty="0"/>
          </a:p>
        </p:txBody>
      </p:sp>
      <p:pic>
        <p:nvPicPr>
          <p:cNvPr id="7" name="Salida de go test -race: 94 tests PASS" descr="Salida de go test -race: 94 tests PA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227133"/>
            <a:ext cx="3383280" cy="1660535"/>
          </a:xfrm>
          <a:prstGeom prst="rect">
            <a:avLst/>
          </a:prstGeom>
        </p:spPr>
      </p:pic>
      <p:sp>
        <p:nvSpPr>
          <p:cNvPr id="8" name="race"/>
          <p:cNvSpPr/>
          <p:nvPr/>
        </p:nvSpPr>
        <p:spPr>
          <a:xfrm>
            <a:off x="5303520" y="3108960"/>
            <a:ext cx="338328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0" y="31089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 tests PASS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go test -race: sin data race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Discusión crítica</a:t>
            </a:r>
            <a:endParaRPr lang="en-US" sz="3200" dirty="0"/>
          </a:p>
        </p:txBody>
      </p:sp>
      <p:sp>
        <p:nvSpPr>
          <p:cNvPr id="4" name="col0"/>
          <p:cNvSpPr/>
          <p:nvPr/>
        </p:nvSpPr>
        <p:spPr>
          <a:xfrm>
            <a:off x="457200" y="1143000"/>
            <a:ext cx="2560320" cy="35204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80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Integrante 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0312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Una sola máquina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Spin solo con N pequeño: 4/8 supera 34M estados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R² 0.47: el modelo lineal explica menos de la mitad</a:t>
            </a:r>
            <a:endParaRPr lang="en-US" sz="1800" dirty="0"/>
          </a:p>
        </p:txBody>
      </p:sp>
      <p:sp>
        <p:nvSpPr>
          <p:cNvPr id="8" name="col1"/>
          <p:cNvSpPr/>
          <p:nvPr/>
        </p:nvSpPr>
        <p:spPr>
          <a:xfrm>
            <a:off x="3291840" y="1143000"/>
            <a:ext cx="2560320" cy="35204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74720" y="1280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Escalabilidad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Integrante 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210312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Más workers no es mejor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 8 a 16: casi igual tiempo, más memoria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Más núcleos físicos: techo más alto</a:t>
            </a:r>
            <a:endParaRPr lang="en-US" sz="1800" dirty="0"/>
          </a:p>
        </p:txBody>
      </p:sp>
      <p:sp>
        <p:nvSpPr>
          <p:cNvPr id="12" name="col2"/>
          <p:cNvSpPr/>
          <p:nvPr/>
        </p:nvSpPr>
        <p:spPr>
          <a:xfrm>
            <a:off x="6126480" y="1143000"/>
            <a:ext cx="2560320" cy="35204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09360" y="1280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Mejoras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Integrante 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210312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Mini-batch / SGD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Pool de workers persistente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CI con go test -race y Spin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Trabajo en equipo con Git Flow</a:t>
            </a:r>
            <a:endParaRPr lang="en-US" sz="3200" dirty="0"/>
          </a:p>
        </p:txBody>
      </p:sp>
      <p:sp>
        <p:nvSpPr>
          <p:cNvPr id="4" name="rama0"/>
          <p:cNvSpPr/>
          <p:nvPr/>
        </p:nvSpPr>
        <p:spPr>
          <a:xfrm>
            <a:off x="457200" y="1188720"/>
            <a:ext cx="12801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1887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feature/*</a:t>
            </a:r>
            <a:endParaRPr lang="en-US" sz="1600" dirty="0"/>
          </a:p>
        </p:txBody>
      </p:sp>
      <p:sp>
        <p:nvSpPr>
          <p:cNvPr id="6" name="flecha0"/>
          <p:cNvSpPr/>
          <p:nvPr/>
        </p:nvSpPr>
        <p:spPr>
          <a:xfrm>
            <a:off x="1764792" y="1508760"/>
            <a:ext cx="173736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7" name="rama1"/>
          <p:cNvSpPr/>
          <p:nvPr/>
        </p:nvSpPr>
        <p:spPr>
          <a:xfrm>
            <a:off x="1965960" y="1188720"/>
            <a:ext cx="128016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965960" y="11887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develop</a:t>
            </a:r>
            <a:endParaRPr lang="en-US" sz="1600" dirty="0"/>
          </a:p>
        </p:txBody>
      </p:sp>
      <p:sp>
        <p:nvSpPr>
          <p:cNvPr id="9" name="flecha1"/>
          <p:cNvSpPr/>
          <p:nvPr/>
        </p:nvSpPr>
        <p:spPr>
          <a:xfrm>
            <a:off x="3273552" y="1508760"/>
            <a:ext cx="173736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0" name="rama2"/>
          <p:cNvSpPr/>
          <p:nvPr/>
        </p:nvSpPr>
        <p:spPr>
          <a:xfrm>
            <a:off x="3474720" y="1188720"/>
            <a:ext cx="128016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74720" y="11887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main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011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Pull requests y commits convencionales</a:t>
            </a:r>
            <a:endParaRPr lang="en-US" sz="1800" dirty="0"/>
          </a:p>
        </p:txBody>
      </p:sp>
      <p:pic>
        <p:nvPicPr>
          <p:cNvPr id="13" name="Salida de git shortlog por integrante" descr="Salida de git shortlog por integra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25310"/>
            <a:ext cx="4206240" cy="15787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7200" y="4206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git shortlog: commits por integrante</a:t>
            </a:r>
            <a:endParaRPr lang="en-US" sz="1200" dirty="0"/>
          </a:p>
        </p:txBody>
      </p:sp>
      <p:pic>
        <p:nvPicPr>
          <p:cNvPr id="15" name="Historial de commits en GitHub" descr="Historial de commits en GitHu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51560"/>
            <a:ext cx="3325091" cy="3429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20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Worker Pool verificado: 4.88x de speedup, modelo idéntico al secuencial y errors: 0 en Spin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github.com/YuhiTTo/Grupo5-ProgramacionConcurrente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CC65 Programación Concurrente · UPC 2026-20 · Grupo 5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upo5 CC65">
  <a:themeElements>
    <a:clrScheme name="Grupo5 CC65">
      <a:dk1>
        <a:srgbClr val="16242D"/>
      </a:dk1>
      <a:lt1>
        <a:srgbClr val="FFFFFF"/>
      </a:lt1>
      <a:dk2>
        <a:srgbClr val="0B2A3C"/>
      </a:dk2>
      <a:lt2>
        <a:srgbClr val="EAF3F5"/>
      </a:lt2>
      <a:accent1>
        <a:srgbClr val="0A7C86"/>
      </a:accent1>
      <a:accent2>
        <a:srgbClr val="7FD6DD"/>
      </a:accent2>
      <a:accent3>
        <a:srgbClr val="52646E"/>
      </a:accent3>
      <a:accent4>
        <a:srgbClr val="0A7C86"/>
      </a:accent4>
      <a:accent5>
        <a:srgbClr val="0A7C86"/>
      </a:accent5>
      <a:accent6>
        <a:srgbClr val="0A7C86"/>
      </a:accent6>
      <a:hlink>
        <a:srgbClr val="0A7C86"/>
      </a:hlink>
      <a:folHlink>
        <a:srgbClr val="52646E"/>
      </a:folHlink>
    </a:clrScheme>
    <a:fontScheme name="Grupo5 CC65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CC65 Grupo 5 - Exposición TP</dc:title>
  <dc:subject>PptxGenJS Presentation</dc:subject>
  <dc:creator>PptxGenJS</dc:creator>
  <cp:lastModifiedBy>PptxGenJS</cp:lastModifiedBy>
  <cp:revision>1</cp:revision>
  <dcterms:created xsi:type="dcterms:W3CDTF">2026-10-05T04:00:04Z</dcterms:created>
  <dcterms:modified xsi:type="dcterms:W3CDTF">2026-10-05T04:00:04Z</dcterms:modified>
</cp:coreProperties>
</file>